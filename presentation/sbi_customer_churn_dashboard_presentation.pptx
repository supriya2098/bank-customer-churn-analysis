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sldIdLst>
    <p:sldId id="256" r:id="rId2"/>
    <p:sldId id="257" r:id="rId3"/>
    <p:sldId id="258" r:id="rId4"/>
    <p:sldId id="271" r:id="rId5"/>
    <p:sldId id="272" r:id="rId6"/>
    <p:sldId id="259" r:id="rId7"/>
    <p:sldId id="260" r:id="rId8"/>
    <p:sldId id="261" r:id="rId9"/>
    <p:sldId id="268" r:id="rId10"/>
    <p:sldId id="269" r:id="rId11"/>
    <p:sldId id="270" r:id="rId12"/>
    <p:sldId id="262" r:id="rId13"/>
    <p:sldId id="263" r:id="rId14"/>
    <p:sldId id="27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98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13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99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43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5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58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8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38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642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42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235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348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6007"/>
            <a:ext cx="7772400" cy="706582"/>
          </a:xfrm>
        </p:spPr>
        <p:txBody>
          <a:bodyPr>
            <a:normAutofit/>
          </a:bodyPr>
          <a:lstStyle/>
          <a:p>
            <a:r>
              <a:rPr lang="en-US" sz="3600" dirty="0"/>
              <a:t>SBI Customer Churn Analytics</a:t>
            </a:r>
            <a:endParaRPr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587731"/>
            <a:ext cx="7360920" cy="1679171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An End to End Data Analytics Project  </a:t>
            </a:r>
          </a:p>
          <a:p>
            <a:r>
              <a:rPr lang="en-US" sz="2000" dirty="0"/>
              <a:t>Customer Behavior Analysis for Banking Retention Strategy</a:t>
            </a:r>
          </a:p>
          <a:p>
            <a:r>
              <a:rPr lang="en-US" sz="2000" dirty="0"/>
              <a:t>Tools Used: Python | Pandas | Power BI | Data Visualization</a:t>
            </a:r>
          </a:p>
          <a:p>
            <a:endParaRPr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D2C2BE-6D4A-606A-C4CF-0F8FC4A500A6}"/>
              </a:ext>
            </a:extLst>
          </p:cNvPr>
          <p:cNvSpPr txBox="1"/>
          <p:nvPr/>
        </p:nvSpPr>
        <p:spPr>
          <a:xfrm>
            <a:off x="6093229" y="4987636"/>
            <a:ext cx="2485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Supriya Kusuma</a:t>
            </a:r>
          </a:p>
          <a:p>
            <a:r>
              <a:rPr lang="en-US" dirty="0"/>
              <a:t>Aspiring Data Analyst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Analyze customer churn patterns.</a:t>
            </a:r>
          </a:p>
          <a:p>
            <a:r>
              <a:t>Dataset: Bank Customer Churn dataset.</a:t>
            </a:r>
          </a:p>
          <a:p>
            <a:r>
              <a:t>Tools: Python, Power BI, Data Visualization.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Banks lose revenue when customers churn.</a:t>
            </a:r>
          </a:p>
          <a:p>
            <a:r>
              <a:t>Goal: Identify patterns and factors influencing churn.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AD231-10AD-4A31-FE6C-0E78D3566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D8986-31B9-6572-9F48-1139B31F8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Data Collection</a:t>
            </a:r>
            <a:br>
              <a:rPr lang="en-US" dirty="0"/>
            </a:br>
            <a:r>
              <a:rPr lang="en-US" dirty="0"/>
              <a:t>       ↓</a:t>
            </a:r>
            <a:br>
              <a:rPr lang="en-US" dirty="0"/>
            </a:br>
            <a:r>
              <a:rPr lang="en-US" dirty="0"/>
              <a:t>Data Cleaning (Python)</a:t>
            </a:r>
            <a:br>
              <a:rPr lang="en-US" dirty="0"/>
            </a:br>
            <a:r>
              <a:rPr lang="en-US" dirty="0"/>
              <a:t>       ↓</a:t>
            </a:r>
            <a:br>
              <a:rPr lang="en-US" dirty="0"/>
            </a:br>
            <a:r>
              <a:rPr lang="en-US" dirty="0"/>
              <a:t>Exploratory Data Analysis</a:t>
            </a:r>
            <a:br>
              <a:rPr lang="en-US" dirty="0"/>
            </a:br>
            <a:r>
              <a:rPr lang="en-US" dirty="0"/>
              <a:t>       ↓</a:t>
            </a:r>
            <a:br>
              <a:rPr lang="en-US" dirty="0"/>
            </a:br>
            <a:r>
              <a:rPr lang="en-US" dirty="0"/>
              <a:t>Feature Engineering</a:t>
            </a:r>
            <a:br>
              <a:rPr lang="en-US" dirty="0"/>
            </a:br>
            <a:r>
              <a:rPr lang="en-US" dirty="0"/>
              <a:t>       ↓</a:t>
            </a:r>
            <a:br>
              <a:rPr lang="en-US" dirty="0"/>
            </a:br>
            <a:r>
              <a:rPr lang="en-US" dirty="0"/>
              <a:t>Power BI Dashboard Development</a:t>
            </a:r>
            <a:br>
              <a:rPr lang="en-US" dirty="0"/>
            </a:br>
            <a:r>
              <a:rPr lang="en-US" dirty="0"/>
              <a:t>       ↓</a:t>
            </a:r>
            <a:br>
              <a:rPr lang="en-US" dirty="0"/>
            </a:br>
            <a:r>
              <a:rPr lang="en-US" dirty="0"/>
              <a:t>Business Insights &amp; Recommendations</a:t>
            </a:r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CE7076-41DC-B6C8-CE7D-93D81BF8B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Workflow</a:t>
            </a:r>
          </a:p>
        </p:txBody>
      </p:sp>
    </p:spTree>
    <p:extLst>
      <p:ext uri="{BB962C8B-B14F-4D97-AF65-F5344CB8AC3E}">
        <p14:creationId xmlns:p14="http://schemas.microsoft.com/office/powerpoint/2010/main" val="2380061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9C08-286B-5F85-3DE4-53D8A1E83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Summary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B8117-0028-AAA0-9D4A-88BF6866E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Total Records: 10,000</a:t>
            </a:r>
            <a:br>
              <a:rPr lang="en-US" dirty="0"/>
            </a:br>
            <a:r>
              <a:rPr lang="en-US" dirty="0"/>
              <a:t>Total Features: 11</a:t>
            </a:r>
          </a:p>
          <a:p>
            <a:r>
              <a:rPr lang="en-US" dirty="0"/>
              <a:t>Target Variable:</a:t>
            </a:r>
            <a:br>
              <a:rPr lang="en-US" dirty="0"/>
            </a:br>
            <a:r>
              <a:rPr lang="en-US" dirty="0"/>
              <a:t>Churn (0 = Stayed, 1 = Left)</a:t>
            </a:r>
          </a:p>
          <a:p>
            <a:r>
              <a:rPr lang="en-US" dirty="0"/>
              <a:t>Countries Included:</a:t>
            </a:r>
            <a:br>
              <a:rPr lang="en-US" dirty="0"/>
            </a:br>
            <a:r>
              <a:rPr lang="en-US" dirty="0"/>
              <a:t>France, Germany, Spain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078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Key fields:</a:t>
            </a:r>
          </a:p>
          <a:p>
            <a:r>
              <a:t>- Age</a:t>
            </a:r>
          </a:p>
          <a:p>
            <a:r>
              <a:t>- Balance</a:t>
            </a:r>
          </a:p>
          <a:p>
            <a:r>
              <a:t>- Estimated Salary</a:t>
            </a:r>
          </a:p>
          <a:p>
            <a:r>
              <a:t>- Credit Score</a:t>
            </a:r>
          </a:p>
          <a:p>
            <a:r>
              <a:t>- Country</a:t>
            </a:r>
          </a:p>
          <a:p>
            <a:r>
              <a:t>- Gender</a:t>
            </a:r>
          </a:p>
          <a:p>
            <a:r>
              <a:t>- Tenure</a:t>
            </a:r>
          </a:p>
          <a:p>
            <a:r>
              <a:t>- Products Number</a:t>
            </a:r>
          </a:p>
          <a:p>
            <a:r>
              <a:t>- Active Member</a:t>
            </a:r>
          </a:p>
          <a:p>
            <a:r>
              <a:t>- Churn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 in Python.</a:t>
            </a:r>
          </a:p>
          <a:p>
            <a:r>
              <a:t>Handling missing values.</a:t>
            </a:r>
          </a:p>
          <a:p>
            <a:r>
              <a:t>Categorizing features.</a:t>
            </a:r>
          </a:p>
          <a:p>
            <a:r>
              <a:t>Exporting cleaned dataset to Power BI.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dashboard built with:</a:t>
            </a:r>
          </a:p>
          <a:p>
            <a:r>
              <a:t>- KPI cards</a:t>
            </a:r>
          </a:p>
          <a:p>
            <a:r>
              <a:t>- Distribution charts</a:t>
            </a:r>
          </a:p>
          <a:p>
            <a:r>
              <a:t>- Scatter plots</a:t>
            </a:r>
          </a:p>
          <a:p>
            <a:r>
              <a:t>- Heatmap</a:t>
            </a:r>
          </a:p>
          <a:p>
            <a:r>
              <a:t>- Customer segmentation visuals.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3EBFA-F8A1-64DD-FE7B-678180580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DASHBOARD SCREENSHOTS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8AC588-4D59-9FDA-519F-52A29562A7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018" y="1562794"/>
            <a:ext cx="7996843" cy="37074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F231BC-1AEF-5DE0-580B-DD6709E5ED6D}"/>
              </a:ext>
            </a:extLst>
          </p:cNvPr>
          <p:cNvSpPr txBox="1"/>
          <p:nvPr/>
        </p:nvSpPr>
        <p:spPr>
          <a:xfrm>
            <a:off x="3167149" y="5436524"/>
            <a:ext cx="3366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Banking Overview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542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FC701-606A-F004-D57E-A27375A5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3526-8579-BDC7-FD35-5EA28BE2B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DASHBOARD SCREENSHOTS</a:t>
            </a:r>
            <a:endParaRPr lang="en-IN" sz="28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7D0896F-95DD-FA41-E3AF-4BBB4950F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331" y="1579419"/>
            <a:ext cx="7556269" cy="342482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D7882A-559A-BD93-C406-1046083FEA05}"/>
              </a:ext>
            </a:extLst>
          </p:cNvPr>
          <p:cNvSpPr txBox="1"/>
          <p:nvPr/>
        </p:nvSpPr>
        <p:spPr>
          <a:xfrm>
            <a:off x="2959331" y="5278581"/>
            <a:ext cx="2917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Customer Demographics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7543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8DC1B-6B5D-7FF5-05ED-F3458E38A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FC2F-18CA-9568-DB22-06EEDB031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DASHBOARD SCREENSHOTS</a:t>
            </a:r>
            <a:endParaRPr lang="en-IN" sz="28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47BBF82-23E4-A890-9C00-E2D01FA68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" y="1637607"/>
            <a:ext cx="7572895" cy="336664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A270BA-568C-A163-18A4-32302424E82C}"/>
              </a:ext>
            </a:extLst>
          </p:cNvPr>
          <p:cNvSpPr txBox="1"/>
          <p:nvPr/>
        </p:nvSpPr>
        <p:spPr>
          <a:xfrm>
            <a:off x="2942705" y="5353396"/>
            <a:ext cx="2701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Financial </a:t>
            </a:r>
            <a:r>
              <a:rPr lang="en-US" dirty="0" err="1"/>
              <a:t>Behaviour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5028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Customers: 10K</a:t>
            </a:r>
          </a:p>
          <a:p>
            <a:r>
              <a:t>Churn Rate: 20.37%</a:t>
            </a:r>
          </a:p>
          <a:p>
            <a:r>
              <a:t>Average Balance: 76.49K</a:t>
            </a:r>
          </a:p>
          <a:p>
            <a:r>
              <a:t>Average Credit Score: 650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Overall churn rate: 20.37% (≈1 in 5 customers leave the bank)</a:t>
            </a:r>
          </a:p>
          <a:p>
            <a:r>
              <a:rPr lang="en-US" dirty="0"/>
              <a:t>Germany shows the highest churn (~32%) among all regions.</a:t>
            </a:r>
          </a:p>
          <a:p>
            <a:r>
              <a:rPr lang="en-US" dirty="0"/>
              <a:t>Customers with only one product contribute to the majority of churn cases.</a:t>
            </a:r>
          </a:p>
          <a:p>
            <a:r>
              <a:rPr lang="en-US" dirty="0"/>
              <a:t>Customers aged 40–60 with higher balances demonstrate higher churn probability.</a:t>
            </a:r>
          </a:p>
          <a:p>
            <a:r>
              <a:rPr lang="en-US" dirty="0"/>
              <a:t>Estimated salary shows minimal correlation with churn.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25261-40D9-3E9D-51A1-59B8A6F5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Impact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1B23B-2077-017B-758D-AAF2D7702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banks identify high-risk customers.</a:t>
            </a:r>
          </a:p>
          <a:p>
            <a:r>
              <a:rPr lang="en-US" dirty="0"/>
              <a:t>Supports targeted retention campaigns.</a:t>
            </a:r>
          </a:p>
          <a:p>
            <a:r>
              <a:rPr lang="en-US" dirty="0"/>
              <a:t>Improves customer lifetime value.</a:t>
            </a:r>
          </a:p>
          <a:p>
            <a:r>
              <a:rPr lang="en-US" dirty="0"/>
              <a:t>Enables data-driven decision 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1051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retention strategies for high-balance customers.</a:t>
            </a:r>
          </a:p>
          <a:p>
            <a:r>
              <a:t>Offer incentives for customers with only one product.</a:t>
            </a:r>
          </a:p>
          <a:p>
            <a:r>
              <a:t>Focus retention campaigns in high-churn regions.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 churn patterns were successfully identified.</a:t>
            </a:r>
          </a:p>
          <a:p>
            <a:r>
              <a:rPr lang="en-US" dirty="0"/>
              <a:t>Key drivers of churn include product usage and region.</a:t>
            </a:r>
          </a:p>
          <a:p>
            <a:r>
              <a:rPr lang="en-US" dirty="0"/>
              <a:t>Interactive dashboard enables quick decision making.</a:t>
            </a:r>
          </a:p>
          <a:p>
            <a:r>
              <a:rPr lang="en-US" dirty="0"/>
              <a:t>Future Scope:</a:t>
            </a:r>
            <a:br>
              <a:rPr lang="en-US" dirty="0"/>
            </a:br>
            <a:r>
              <a:rPr lang="en-US" dirty="0"/>
              <a:t>Implement machine learning models for churn prediction.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37</TotalTime>
  <Words>411</Words>
  <Application>Microsoft Office PowerPoint</Application>
  <PresentationFormat>On-screen Show (4:3)</PresentationFormat>
  <Paragraphs>75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Gill Sans MT</vt:lpstr>
      <vt:lpstr>Gallery</vt:lpstr>
      <vt:lpstr>SBI Customer Churn Analytics</vt:lpstr>
      <vt:lpstr>Project Overview</vt:lpstr>
      <vt:lpstr>Business Problem</vt:lpstr>
      <vt:lpstr>Project Workflow</vt:lpstr>
      <vt:lpstr>Dataset Summary </vt:lpstr>
      <vt:lpstr>Dataset Description</vt:lpstr>
      <vt:lpstr>Data Preparation</vt:lpstr>
      <vt:lpstr>Dashboard Overview</vt:lpstr>
      <vt:lpstr>DASHBOARD SCREENSHOTS</vt:lpstr>
      <vt:lpstr>DASHBOARD SCREENSHOTS</vt:lpstr>
      <vt:lpstr>DASHBOARD SCREENSHOTS</vt:lpstr>
      <vt:lpstr>Key Metrics</vt:lpstr>
      <vt:lpstr>Key Insights</vt:lpstr>
      <vt:lpstr>Business Impact 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sanju</dc:creator>
  <cp:keywords/>
  <dc:description>generated using python-pptx</dc:description>
  <cp:lastModifiedBy>Kusuma Supriya - 25154090116</cp:lastModifiedBy>
  <cp:revision>3</cp:revision>
  <dcterms:created xsi:type="dcterms:W3CDTF">2013-01-27T09:14:16Z</dcterms:created>
  <dcterms:modified xsi:type="dcterms:W3CDTF">2026-03-11T09:36:45Z</dcterms:modified>
  <cp:category/>
</cp:coreProperties>
</file>